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Sales</c:v>
                  </c:pt>
                  <c:pt idx="1">
                    <c:v>Collections</c:v>
                  </c:pt>
                  <c:pt idx="2">
                    <c:v>Customers</c:v>
                  </c:pt>
                  <c:pt idx="3">
                    <c:v>Invoices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522596</c:v>
                </c:pt>
                <c:pt idx="1">
                  <c:v>481278</c:v>
                </c:pt>
                <c:pt idx="2">
                  <c:v>134</c:v>
                </c:pt>
                <c:pt idx="3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Reference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Sales</c:v>
                  </c:pt>
                  <c:pt idx="1">
                    <c:v>Collections</c:v>
                  </c:pt>
                  <c:pt idx="2">
                    <c:v>Customers</c:v>
                  </c:pt>
                  <c:pt idx="3">
                    <c:v>Invoices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433968</c:v>
                </c:pt>
                <c:pt idx="1">
                  <c:v>423164</c:v>
                </c:pt>
                <c:pt idx="2">
                  <c:v>107</c:v>
                </c:pt>
                <c:pt idx="3">
                  <c:v>144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E2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141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Murshidak | Field Sales 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MURSHIDAK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</a:rPr>
              <a:t>Team Performance Review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2F2"/>
                </a:solidFill>
              </a:rPr>
              <a:t>Acme Demo  |  Company scope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8288"/>
          </a:xfrm>
          <a:prstGeom prst="rect">
            <a:avLst/>
          </a:prstGeom>
          <a:solidFill>
            <a:srgbClr val="314158"/>
          </a:solidFill>
          <a:ln w="12700">
            <a:solidFill>
              <a:srgbClr val="31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3075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F2"/>
                </a:solidFill>
              </a:rPr>
              <a:t>Current: 2026-08-01 → 2026-08-12    |    Reference: 2026-07-01 → 2026-07-12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Murshidak | Field Sales 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Snapshot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view of what changed and why it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721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SAR 522,596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1762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+20.4%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4721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Collections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62272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SAR 481,278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62272" y="21762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+13.7%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01000" y="13258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4721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Buying customers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65592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134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65592" y="21762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+25.2%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6974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8437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Invoices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190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" y="35478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+31.9%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26974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28437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Sold SKUs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62272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100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62272" y="35478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+5.3%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1000" y="269748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5592" y="28437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Returns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65592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SAR 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165592" y="35478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No change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42519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39826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Sales target achievement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108.4%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8952" y="51023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Ahead of plan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42519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439826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Collection target achievement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62272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8"/>
                </a:solidFill>
              </a:rPr>
              <a:t>102.1%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462272" y="51023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Ahead of plan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57150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2F2"/>
                </a:solidFill>
              </a:rPr>
              <a:t>Sales, customer activation, and invoice activity are all improving.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Murshidak | Field Sales 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Story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" cy="4251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Fact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2F2"/>
                </a:solidFill>
              </a:rPr>
              <a:t>Sales rose 20.4% while productive customers rose 25.2%.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17320"/>
            <a:ext cx="54864" cy="4251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212848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2F2"/>
                </a:solidFill>
              </a:rPr>
              <a:t>The improvement is broad-based; it is not dependent on a single volume signal.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417320"/>
            <a:ext cx="54864" cy="4251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What cannot be proven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212848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2F2"/>
                </a:solidFill>
              </a:rPr>
              <a:t>These data do not prove which field behavior caused the gain.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Murshidak | Field Sales 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Trend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 vs reference period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325880"/>
          <a:ext cx="67665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90956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EEF8"/>
                </a:solidFill>
              </a:rPr>
              <a:t>The growth pattern supports a repeatable execution story.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09560" y="32004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2F2"/>
                </a:solidFill>
              </a:rPr>
              <a:t>• Sales +20.4%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E2F2"/>
                </a:solidFill>
              </a:rPr>
              <a:t>• Customers +25.2%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E2F2"/>
                </a:solidFill>
              </a:rPr>
              <a:t>• Invoices +31.9%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E2F2"/>
                </a:solidFill>
              </a:rPr>
              <a:t>• Returns stable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Murshidak | Field Sales 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7E2F2"/>
                </a:solidFill>
              </a:rPr>
              <a:t>Codify the working pattern at the best-performing entities, then transfer it to lower-performing ones without increasing returns.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81635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High-impact actions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005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E2F2"/>
                </a:solidFill>
              </a:rPr>
              <a:t>Identify top-performing entities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38328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611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4005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E2F2"/>
                </a:solidFill>
              </a:rPr>
              <a:t>Extract the repeatable practice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338328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162235"/>
          </a:solidFill>
          <a:ln w="6350">
            <a:solidFill>
              <a:srgbClr val="3141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611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4005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E2F2"/>
                </a:solidFill>
              </a:rPr>
              <a:t>Track growth without higher returns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Murshidak | Field Sales OS</dc:creator>
  <cp:lastModifiedBy>Murshidak | Field Sales OS</cp:lastModifiedBy>
  <cp:revision>1</cp:revision>
  <dcterms:created xsi:type="dcterms:W3CDTF">2026-08-12T11:23:09Z</dcterms:created>
  <dcterms:modified xsi:type="dcterms:W3CDTF">2026-08-12T11:23:09Z</dcterms:modified>
</cp:coreProperties>
</file>